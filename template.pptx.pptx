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11518" r:id="rId2"/>
    <p:sldId id="11522" r:id="rId3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리더십 영향력 진단" id="{36EF8F81-4E80-4DF0-895E-8453566FB0F8}">
          <p14:sldIdLst>
            <p14:sldId id="11518"/>
            <p14:sldId id="11522"/>
          </p14:sldIdLst>
        </p14:section>
      </p14:sectionLst>
    </p:ext>
    <p:ext uri="{EFAFB233-063F-42B5-8137-9DF3F51BA10A}">
      <p15:sldGuideLst xmlns:p15="http://schemas.microsoft.com/office/powerpoint/2012/main">
        <p15:guide id="3" pos="257" userDrawn="1">
          <p15:clr>
            <a:srgbClr val="A4A3A4"/>
          </p15:clr>
        </p15:guide>
        <p15:guide id="4" orient="horz" pos="2228" userDrawn="1">
          <p15:clr>
            <a:srgbClr val="A4A3A4"/>
          </p15:clr>
        </p15:guide>
        <p15:guide id="8" pos="7423" userDrawn="1">
          <p15:clr>
            <a:srgbClr val="A4A3A4"/>
          </p15:clr>
        </p15:guide>
        <p15:guide id="9" orient="horz" pos="4020" userDrawn="1">
          <p15:clr>
            <a:srgbClr val="A4A3A4"/>
          </p15:clr>
        </p15:guide>
        <p15:guide id="10" orient="horz" pos="958" userDrawn="1">
          <p15:clr>
            <a:srgbClr val="A4A3A4"/>
          </p15:clr>
        </p15:guide>
        <p15:guide id="11" orient="horz" pos="2432" userDrawn="1">
          <p15:clr>
            <a:srgbClr val="A4A3A4"/>
          </p15:clr>
        </p15:guide>
        <p15:guide id="12" pos="6312" userDrawn="1">
          <p15:clr>
            <a:srgbClr val="A4A3A4"/>
          </p15:clr>
        </p15:guide>
        <p15:guide id="13" pos="13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80B1"/>
    <a:srgbClr val="A6A6A6"/>
    <a:srgbClr val="CB3D6C"/>
    <a:srgbClr val="CF5959"/>
    <a:srgbClr val="666666"/>
    <a:srgbClr val="C00000"/>
    <a:srgbClr val="E4EDF5"/>
    <a:srgbClr val="FFFFFF"/>
    <a:srgbClr val="860C2F"/>
    <a:srgbClr val="3A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36" autoAdjust="0"/>
    <p:restoredTop sz="96196" autoAdjust="0"/>
  </p:normalViewPr>
  <p:slideViewPr>
    <p:cSldViewPr snapToGrid="0">
      <p:cViewPr varScale="1">
        <p:scale>
          <a:sx n="102" d="100"/>
          <a:sy n="102" d="100"/>
        </p:scale>
        <p:origin x="474" y="108"/>
      </p:cViewPr>
      <p:guideLst>
        <p:guide pos="257"/>
        <p:guide orient="horz" pos="2228"/>
        <p:guide pos="7423"/>
        <p:guide orient="horz" pos="4020"/>
        <p:guide orient="horz" pos="958"/>
        <p:guide orient="horz" pos="2432"/>
        <p:guide pos="6312"/>
        <p:guide pos="1345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B104-4782-9752-FC5D25AE17EC}"/>
              </c:ext>
            </c:extLst>
          </c:dPt>
          <c:dPt>
            <c:idx val="1"/>
            <c:invertIfNegative val="0"/>
            <c:bubble3D val="0"/>
            <c:spPr>
              <a:solidFill>
                <a:srgbClr val="4480B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104-4782-9752-FC5D25AE17EC}"/>
              </c:ext>
            </c:extLst>
          </c:dPt>
          <c:dPt>
            <c:idx val="3"/>
            <c:invertIfNegative val="0"/>
            <c:bubble3D val="0"/>
            <c:spPr>
              <a:solidFill>
                <a:srgbClr val="A6A6A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104-4782-9752-FC5D25AE17EC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104-4782-9752-FC5D25AE17EC}"/>
              </c:ext>
            </c:extLst>
          </c:dPt>
          <c:dPt>
            <c:idx val="5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3416-448A-8AC1-73DA252A779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100" b="1" i="0" u="none" strike="noStrike" kern="1200" baseline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KoPub돋움체 Bold" panose="02020603020101020101" pitchFamily="18" charset="-127"/>
                    <a:cs typeface="Arial" panose="020B0604020202020204" pitchFamily="34" charset="0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Position</c:v>
                </c:pt>
                <c:pt idx="1">
                  <c:v>Personality</c:v>
                </c:pt>
                <c:pt idx="2">
                  <c:v>Relationship</c:v>
                </c:pt>
                <c:pt idx="3">
                  <c:v>Results</c:v>
                </c:pt>
                <c:pt idx="4">
                  <c:v>Development</c:v>
                </c:pt>
                <c:pt idx="5">
                  <c:v>Principles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3.8333333333333335</c:v>
                </c:pt>
                <c:pt idx="1">
                  <c:v>4</c:v>
                </c:pt>
                <c:pt idx="2">
                  <c:v>2.8333333333333335</c:v>
                </c:pt>
                <c:pt idx="3">
                  <c:v>3.75</c:v>
                </c:pt>
                <c:pt idx="4">
                  <c:v>3.75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04-4782-9752-FC5D25AE17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790661103"/>
        <c:axId val="1790680239"/>
      </c:barChart>
      <c:catAx>
        <c:axId val="1790661103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ko-KR" sz="1100" b="1" i="0" u="none" strike="noStrike" kern="1200" cap="none" spc="0" normalizeH="0" baseline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defRPr>
            </a:pPr>
            <a:endParaRPr lang="ko-KR"/>
          </a:p>
        </c:txPr>
        <c:crossAx val="1790680239"/>
        <c:crosses val="autoZero"/>
        <c:auto val="1"/>
        <c:lblAlgn val="ctr"/>
        <c:lblOffset val="100"/>
        <c:noMultiLvlLbl val="0"/>
      </c:catAx>
      <c:valAx>
        <c:axId val="1790680239"/>
        <c:scaling>
          <c:orientation val="minMax"/>
          <c:max val="5"/>
        </c:scaling>
        <c:delete val="0"/>
        <c:axPos val="l"/>
        <c:majorGridlines>
          <c:spPr>
            <a:ln w="317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90661103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6350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5027446906468022E-2"/>
          <c:y val="0.21674023637028964"/>
          <c:w val="0.94848079897059345"/>
          <c:h val="0.65508059593444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2D557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DC0-489A-AF23-4ACC5E18609F}"/>
              </c:ext>
            </c:extLst>
          </c:dPt>
          <c:dPt>
            <c:idx val="9"/>
            <c:invertIfNegative val="0"/>
            <c:bubble3D val="0"/>
            <c:spPr>
              <a:solidFill>
                <a:srgbClr val="2D557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DC0-489A-AF23-4ACC5E18609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100" b="1" i="0" u="none" strike="noStrike" kern="1200" baseline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KoPub돋움체 Bold" panose="02020603020101020101" pitchFamily="18" charset="-127"/>
                    <a:cs typeface="Arial" panose="020B0604020202020204" pitchFamily="34" charset="0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우호성</c:v>
                </c:pt>
                <c:pt idx="1">
                  <c:v>동기유발</c:v>
                </c:pt>
                <c:pt idx="2">
                  <c:v>자문</c:v>
                </c:pt>
                <c:pt idx="3">
                  <c:v>평균</c:v>
                </c:pt>
                <c:pt idx="4">
                  <c:v>협력제휴</c:v>
                </c:pt>
                <c:pt idx="5">
                  <c:v>협상거래</c:v>
                </c:pt>
                <c:pt idx="6">
                  <c:v>합리적설득</c:v>
                </c:pt>
                <c:pt idx="7">
                  <c:v>합법화</c:v>
                </c:pt>
                <c:pt idx="8">
                  <c:v>강요</c:v>
                </c:pt>
                <c:pt idx="9">
                  <c:v>평균</c:v>
                </c:pt>
              </c:strCache>
            </c:strRef>
          </c:cat>
          <c:val>
            <c:numRef>
              <c:f>Sheet1!$B$2:$B$11</c:f>
              <c:numCache>
                <c:formatCode>0.00</c:formatCode>
                <c:ptCount val="10"/>
                <c:pt idx="0">
                  <c:v>3.75</c:v>
                </c:pt>
                <c:pt idx="1">
                  <c:v>4</c:v>
                </c:pt>
                <c:pt idx="2">
                  <c:v>4</c:v>
                </c:pt>
                <c:pt idx="3">
                  <c:v>3.92</c:v>
                </c:pt>
                <c:pt idx="4">
                  <c:v>3.25</c:v>
                </c:pt>
                <c:pt idx="5">
                  <c:v>2.5</c:v>
                </c:pt>
                <c:pt idx="6">
                  <c:v>4</c:v>
                </c:pt>
                <c:pt idx="7">
                  <c:v>3.25</c:v>
                </c:pt>
                <c:pt idx="8">
                  <c:v>2.75</c:v>
                </c:pt>
                <c:pt idx="9">
                  <c:v>3.15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DC0-489A-AF23-4ACC5E1860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790661103"/>
        <c:axId val="1790680239"/>
      </c:barChart>
      <c:catAx>
        <c:axId val="1790661103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ko-KR" sz="1100" b="0" i="0" u="none" strike="noStrike" kern="1200" cap="none" spc="0" normalizeH="0" baseline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defRPr>
            </a:pPr>
            <a:endParaRPr lang="ko-KR"/>
          </a:p>
        </c:txPr>
        <c:crossAx val="1790680239"/>
        <c:crosses val="autoZero"/>
        <c:auto val="1"/>
        <c:lblAlgn val="ctr"/>
        <c:lblOffset val="100"/>
        <c:noMultiLvlLbl val="0"/>
      </c:catAx>
      <c:valAx>
        <c:axId val="1790680239"/>
        <c:scaling>
          <c:orientation val="minMax"/>
        </c:scaling>
        <c:delete val="0"/>
        <c:axPos val="l"/>
        <c:majorGridlines>
          <c:spPr>
            <a:ln w="317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90661103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6350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B104-4782-9752-FC5D25AE17EC}"/>
              </c:ext>
            </c:extLst>
          </c:dPt>
          <c:dPt>
            <c:idx val="1"/>
            <c:invertIfNegative val="0"/>
            <c:bubble3D val="0"/>
            <c:spPr>
              <a:solidFill>
                <a:srgbClr val="4480B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104-4782-9752-FC5D25AE17EC}"/>
              </c:ext>
            </c:extLst>
          </c:dPt>
          <c:dPt>
            <c:idx val="3"/>
            <c:invertIfNegative val="0"/>
            <c:bubble3D val="0"/>
            <c:spPr>
              <a:solidFill>
                <a:srgbClr val="A6A6A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104-4782-9752-FC5D25AE17EC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104-4782-9752-FC5D25AE17EC}"/>
              </c:ext>
            </c:extLst>
          </c:dPt>
          <c:dPt>
            <c:idx val="5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3416-448A-8AC1-73DA252A779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100" b="1" i="0" u="none" strike="noStrike" kern="1200" baseline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KoPub돋움체 Bold" panose="02020603020101020101" pitchFamily="18" charset="-127"/>
                    <a:cs typeface="Arial" panose="020B0604020202020204" pitchFamily="34" charset="0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Position</c:v>
                </c:pt>
                <c:pt idx="1">
                  <c:v>Personality</c:v>
                </c:pt>
                <c:pt idx="2">
                  <c:v>Relationship</c:v>
                </c:pt>
                <c:pt idx="3">
                  <c:v>Results</c:v>
                </c:pt>
                <c:pt idx="4">
                  <c:v>Development</c:v>
                </c:pt>
                <c:pt idx="5">
                  <c:v>Principles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3.8333333333333335</c:v>
                </c:pt>
                <c:pt idx="1">
                  <c:v>4</c:v>
                </c:pt>
                <c:pt idx="2">
                  <c:v>2.8333333333333335</c:v>
                </c:pt>
                <c:pt idx="3">
                  <c:v>3.75</c:v>
                </c:pt>
                <c:pt idx="4">
                  <c:v>3.75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04-4782-9752-FC5D25AE17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790661103"/>
        <c:axId val="1790680239"/>
      </c:barChart>
      <c:catAx>
        <c:axId val="1790661103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ko-KR" sz="1100" b="1" i="0" u="none" strike="noStrike" kern="1200" cap="none" spc="0" normalizeH="0" baseline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defRPr>
            </a:pPr>
            <a:endParaRPr lang="ko-KR"/>
          </a:p>
        </c:txPr>
        <c:crossAx val="1790680239"/>
        <c:crosses val="autoZero"/>
        <c:auto val="1"/>
        <c:lblAlgn val="ctr"/>
        <c:lblOffset val="100"/>
        <c:noMultiLvlLbl val="0"/>
      </c:catAx>
      <c:valAx>
        <c:axId val="1790680239"/>
        <c:scaling>
          <c:orientation val="minMax"/>
          <c:max val="5"/>
        </c:scaling>
        <c:delete val="0"/>
        <c:axPos val="l"/>
        <c:majorGridlines>
          <c:spPr>
            <a:ln w="317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90661103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6350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5027446906468022E-2"/>
          <c:y val="0.21674023637028964"/>
          <c:w val="0.94848079897059345"/>
          <c:h val="0.65508059593444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2D557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DC0-489A-AF23-4ACC5E18609F}"/>
              </c:ext>
            </c:extLst>
          </c:dPt>
          <c:dPt>
            <c:idx val="9"/>
            <c:invertIfNegative val="0"/>
            <c:bubble3D val="0"/>
            <c:spPr>
              <a:solidFill>
                <a:srgbClr val="2D557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DC0-489A-AF23-4ACC5E18609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100" b="1" i="0" u="none" strike="noStrike" kern="1200" baseline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KoPub돋움체 Bold" panose="02020603020101020101" pitchFamily="18" charset="-127"/>
                    <a:cs typeface="Arial" panose="020B0604020202020204" pitchFamily="34" charset="0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우호성</c:v>
                </c:pt>
                <c:pt idx="1">
                  <c:v>동기유발</c:v>
                </c:pt>
                <c:pt idx="2">
                  <c:v>자문</c:v>
                </c:pt>
                <c:pt idx="3">
                  <c:v>평균</c:v>
                </c:pt>
                <c:pt idx="4">
                  <c:v>협력제휴</c:v>
                </c:pt>
                <c:pt idx="5">
                  <c:v>협상거래</c:v>
                </c:pt>
                <c:pt idx="6">
                  <c:v>합리적설득</c:v>
                </c:pt>
                <c:pt idx="7">
                  <c:v>합법화</c:v>
                </c:pt>
                <c:pt idx="8">
                  <c:v>강요</c:v>
                </c:pt>
                <c:pt idx="9">
                  <c:v>평균</c:v>
                </c:pt>
              </c:strCache>
            </c:strRef>
          </c:cat>
          <c:val>
            <c:numRef>
              <c:f>Sheet1!$B$2:$B$11</c:f>
              <c:numCache>
                <c:formatCode>0.00</c:formatCode>
                <c:ptCount val="10"/>
                <c:pt idx="0">
                  <c:v>3.75</c:v>
                </c:pt>
                <c:pt idx="1">
                  <c:v>4</c:v>
                </c:pt>
                <c:pt idx="2">
                  <c:v>4</c:v>
                </c:pt>
                <c:pt idx="3">
                  <c:v>3.92</c:v>
                </c:pt>
                <c:pt idx="4">
                  <c:v>3.25</c:v>
                </c:pt>
                <c:pt idx="5">
                  <c:v>2.5</c:v>
                </c:pt>
                <c:pt idx="6">
                  <c:v>4</c:v>
                </c:pt>
                <c:pt idx="7">
                  <c:v>3.25</c:v>
                </c:pt>
                <c:pt idx="8">
                  <c:v>2.75</c:v>
                </c:pt>
                <c:pt idx="9">
                  <c:v>3.15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DC0-489A-AF23-4ACC5E1860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790661103"/>
        <c:axId val="1790680239"/>
      </c:barChart>
      <c:catAx>
        <c:axId val="1790661103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ko-KR" sz="1100" b="0" i="0" u="none" strike="noStrike" kern="1200" cap="none" spc="0" normalizeH="0" baseline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defRPr>
            </a:pPr>
            <a:endParaRPr lang="ko-KR"/>
          </a:p>
        </c:txPr>
        <c:crossAx val="1790680239"/>
        <c:crosses val="autoZero"/>
        <c:auto val="1"/>
        <c:lblAlgn val="ctr"/>
        <c:lblOffset val="100"/>
        <c:noMultiLvlLbl val="0"/>
      </c:catAx>
      <c:valAx>
        <c:axId val="1790680239"/>
        <c:scaling>
          <c:orientation val="minMax"/>
        </c:scaling>
        <c:delete val="0"/>
        <c:axPos val="l"/>
        <c:majorGridlines>
          <c:spPr>
            <a:ln w="317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90661103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6350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436C9-A2EA-456D-A843-0E5112E88CE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6808D-E8E3-48AE-8E75-45631061C6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364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4E3D3-B515-4C81-B19B-1140EF513BE4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D3BEB-E339-48BE-BE50-66C56DCE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84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12293601" y="1303397"/>
            <a:ext cx="330201" cy="193947"/>
          </a:xfrm>
          <a:prstGeom prst="rect">
            <a:avLst/>
          </a:prstGeom>
          <a:solidFill>
            <a:srgbClr val="CF595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0" name="직사각형 9"/>
          <p:cNvSpPr/>
          <p:nvPr userDrawn="1"/>
        </p:nvSpPr>
        <p:spPr>
          <a:xfrm>
            <a:off x="12293601" y="1497344"/>
            <a:ext cx="330201" cy="193947"/>
          </a:xfrm>
          <a:prstGeom prst="rect">
            <a:avLst/>
          </a:prstGeom>
          <a:solidFill>
            <a:srgbClr val="D48A4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1" name="직사각형 10"/>
          <p:cNvSpPr/>
          <p:nvPr userDrawn="1"/>
        </p:nvSpPr>
        <p:spPr>
          <a:xfrm>
            <a:off x="12293601" y="1691284"/>
            <a:ext cx="330201" cy="193947"/>
          </a:xfrm>
          <a:prstGeom prst="rect">
            <a:avLst/>
          </a:prstGeom>
          <a:solidFill>
            <a:srgbClr val="75BD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 userDrawn="1"/>
        </p:nvSpPr>
        <p:spPr>
          <a:xfrm>
            <a:off x="12293601" y="1885229"/>
            <a:ext cx="330201" cy="193947"/>
          </a:xfrm>
          <a:prstGeom prst="rect">
            <a:avLst/>
          </a:prstGeom>
          <a:solidFill>
            <a:srgbClr val="7AA7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3" name="직사각형 12"/>
          <p:cNvSpPr/>
          <p:nvPr userDrawn="1"/>
        </p:nvSpPr>
        <p:spPr>
          <a:xfrm>
            <a:off x="12293601" y="2079185"/>
            <a:ext cx="330201" cy="193947"/>
          </a:xfrm>
          <a:prstGeom prst="rect">
            <a:avLst/>
          </a:prstGeom>
          <a:solidFill>
            <a:srgbClr val="BC7EB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4" name="직사각형 13"/>
          <p:cNvSpPr/>
          <p:nvPr userDrawn="1"/>
        </p:nvSpPr>
        <p:spPr>
          <a:xfrm>
            <a:off x="12293601" y="2273132"/>
            <a:ext cx="330201" cy="193947"/>
          </a:xfrm>
          <a:prstGeom prst="rect">
            <a:avLst/>
          </a:prstGeom>
          <a:solidFill>
            <a:srgbClr val="B08CD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5" name="직사각형 14"/>
          <p:cNvSpPr/>
          <p:nvPr userDrawn="1"/>
        </p:nvSpPr>
        <p:spPr>
          <a:xfrm>
            <a:off x="12293601" y="2467079"/>
            <a:ext cx="330201" cy="193947"/>
          </a:xfrm>
          <a:prstGeom prst="rect">
            <a:avLst/>
          </a:prstGeom>
          <a:solidFill>
            <a:srgbClr val="BCBCB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8" name="직사각형 7"/>
          <p:cNvSpPr/>
          <p:nvPr userDrawn="1"/>
        </p:nvSpPr>
        <p:spPr>
          <a:xfrm>
            <a:off x="12293601" y="0"/>
            <a:ext cx="330201" cy="360000"/>
          </a:xfrm>
          <a:prstGeom prst="rect">
            <a:avLst/>
          </a:prstGeom>
          <a:solidFill>
            <a:srgbClr val="EF1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7" name="직사각형 16"/>
          <p:cNvSpPr/>
          <p:nvPr userDrawn="1"/>
        </p:nvSpPr>
        <p:spPr>
          <a:xfrm>
            <a:off x="12293601" y="412413"/>
            <a:ext cx="330201" cy="360000"/>
          </a:xfrm>
          <a:prstGeom prst="rect">
            <a:avLst/>
          </a:prstGeom>
          <a:solidFill>
            <a:srgbClr val="384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8" name="직사각형 17"/>
          <p:cNvSpPr/>
          <p:nvPr userDrawn="1"/>
        </p:nvSpPr>
        <p:spPr>
          <a:xfrm>
            <a:off x="12293601" y="857900"/>
            <a:ext cx="330201" cy="360000"/>
          </a:xfrm>
          <a:prstGeom prst="rect">
            <a:avLst/>
          </a:prstGeom>
          <a:solidFill>
            <a:srgbClr val="EBEBE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</p:spTree>
    <p:extLst>
      <p:ext uri="{BB962C8B-B14F-4D97-AF65-F5344CB8AC3E}">
        <p14:creationId xmlns:p14="http://schemas.microsoft.com/office/powerpoint/2010/main" val="1343910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742987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j-cs"/>
        </a:defRPr>
      </a:lvl1pPr>
    </p:titleStyle>
    <p:bodyStyle>
      <a:lvl1pPr marL="185746" indent="-185746" algn="l" defTabSz="742987" rtl="0" eaLnBrk="1" latinLnBrk="1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1pPr>
      <a:lvl2pPr marL="557241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2pPr>
      <a:lvl3pPr marL="928734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3pPr>
      <a:lvl4pPr marL="1300228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4pPr>
      <a:lvl5pPr marL="1671722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5pPr>
      <a:lvl6pPr marL="2043215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709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201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696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94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87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81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74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468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962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455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949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81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38FD0-6FAE-0E8E-0614-765E68C49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화살표: 오른쪽 54">
            <a:extLst>
              <a:ext uri="{FF2B5EF4-FFF2-40B4-BE49-F238E27FC236}">
                <a16:creationId xmlns:a16="http://schemas.microsoft.com/office/drawing/2014/main" id="{80343202-13D2-BCC8-CB43-EC3B8A252399}"/>
              </a:ext>
            </a:extLst>
          </p:cNvPr>
          <p:cNvSpPr/>
          <p:nvPr/>
        </p:nvSpPr>
        <p:spPr>
          <a:xfrm>
            <a:off x="2366000" y="3196460"/>
            <a:ext cx="7523435" cy="362515"/>
          </a:xfrm>
          <a:prstGeom prst="rightArrow">
            <a:avLst>
              <a:gd name="adj1" fmla="val 50000"/>
              <a:gd name="adj2" fmla="val 101533"/>
            </a:avLst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24156D0-D419-CC52-6F5A-6AA796C304D9}"/>
              </a:ext>
            </a:extLst>
          </p:cNvPr>
          <p:cNvCxnSpPr>
            <a:cxnSpLocks/>
          </p:cNvCxnSpPr>
          <p:nvPr/>
        </p:nvCxnSpPr>
        <p:spPr>
          <a:xfrm>
            <a:off x="407988" y="882172"/>
            <a:ext cx="11376025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D59D821-7B78-FA45-3915-0C407D2A2425}"/>
              </a:ext>
            </a:extLst>
          </p:cNvPr>
          <p:cNvSpPr txBox="1"/>
          <p:nvPr/>
        </p:nvSpPr>
        <p:spPr>
          <a:xfrm>
            <a:off x="310895" y="504183"/>
            <a:ext cx="8160005" cy="381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CIAM _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리더십 영향력 진단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 _ {{NAME}}</a:t>
            </a:r>
            <a:endParaRPr lang="ko-KR" altLang="en-US" dirty="0"/>
          </a:p>
        </p:txBody>
      </p:sp>
      <p:graphicFrame>
        <p:nvGraphicFramePr>
          <p:cNvPr id="16" name="chart_phase">
            <a:extLst>
              <a:ext uri="{FF2B5EF4-FFF2-40B4-BE49-F238E27FC236}">
                <a16:creationId xmlns:a16="http://schemas.microsoft.com/office/drawing/2014/main" id="{E3FBC192-41E3-EE9C-5C68-F9F04489C9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7518274"/>
              </p:ext>
            </p:extLst>
          </p:nvPr>
        </p:nvGraphicFramePr>
        <p:xfrm>
          <a:off x="2100263" y="1526931"/>
          <a:ext cx="7920037" cy="2021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2801A91-6977-7F37-CDED-A2F529CBE69D}"/>
              </a:ext>
            </a:extLst>
          </p:cNvPr>
          <p:cNvSpPr/>
          <p:nvPr/>
        </p:nvSpPr>
        <p:spPr>
          <a:xfrm>
            <a:off x="4850320" y="1324232"/>
            <a:ext cx="2491359" cy="2444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리더십 영향력 단계 진단 결과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DD084C-77AE-66C8-8209-19A192CFE15D}"/>
              </a:ext>
            </a:extLst>
          </p:cNvPr>
          <p:cNvSpPr/>
          <p:nvPr/>
        </p:nvSpPr>
        <p:spPr>
          <a:xfrm>
            <a:off x="2376161" y="4409995"/>
            <a:ext cx="3000052" cy="163833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rgbClr val="D9E1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649CAB3-CB25-C169-7E96-1C265791EA08}"/>
              </a:ext>
            </a:extLst>
          </p:cNvPr>
          <p:cNvSpPr/>
          <p:nvPr/>
        </p:nvSpPr>
        <p:spPr>
          <a:xfrm>
            <a:off x="5395868" y="4409994"/>
            <a:ext cx="4483627" cy="1638333"/>
          </a:xfrm>
          <a:prstGeom prst="rect">
            <a:avLst/>
          </a:prstGeom>
          <a:solidFill>
            <a:srgbClr val="FFF2CC">
              <a:alpha val="50000"/>
            </a:srgbClr>
          </a:solidFill>
          <a:ln>
            <a:solidFill>
              <a:srgbClr val="D9E1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B088466-D7BD-DE1C-3085-796A364D2DE3}"/>
              </a:ext>
            </a:extLst>
          </p:cNvPr>
          <p:cNvCxnSpPr>
            <a:cxnSpLocks/>
          </p:cNvCxnSpPr>
          <p:nvPr/>
        </p:nvCxnSpPr>
        <p:spPr>
          <a:xfrm>
            <a:off x="5385930" y="4031135"/>
            <a:ext cx="0" cy="200270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387C896-E70F-95F1-2805-DCE63AFBF230}"/>
              </a:ext>
            </a:extLst>
          </p:cNvPr>
          <p:cNvSpPr/>
          <p:nvPr/>
        </p:nvSpPr>
        <p:spPr>
          <a:xfrm>
            <a:off x="3618118" y="3984599"/>
            <a:ext cx="495816" cy="18399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Pull</a:t>
            </a:r>
            <a:endParaRPr lang="ko-KR" altLang="en-US" sz="1200" b="1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8E00689-EAD5-4DC3-1E1E-286D0DEBE48A}"/>
              </a:ext>
            </a:extLst>
          </p:cNvPr>
          <p:cNvSpPr/>
          <p:nvPr/>
        </p:nvSpPr>
        <p:spPr>
          <a:xfrm>
            <a:off x="7350781" y="3951489"/>
            <a:ext cx="564088" cy="2497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Push</a:t>
            </a:r>
            <a:endParaRPr lang="ko-KR" altLang="en-US" sz="1200" b="1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FB11729-C966-CE00-D6DA-9498794C3ED0}"/>
              </a:ext>
            </a:extLst>
          </p:cNvPr>
          <p:cNvCxnSpPr/>
          <p:nvPr/>
        </p:nvCxnSpPr>
        <p:spPr>
          <a:xfrm>
            <a:off x="2366000" y="4203362"/>
            <a:ext cx="300005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32AEF78D-84F2-8ADD-0675-73F054E52780}"/>
              </a:ext>
            </a:extLst>
          </p:cNvPr>
          <p:cNvCxnSpPr>
            <a:cxnSpLocks/>
          </p:cNvCxnSpPr>
          <p:nvPr/>
        </p:nvCxnSpPr>
        <p:spPr>
          <a:xfrm>
            <a:off x="5376213" y="4198410"/>
            <a:ext cx="451322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hart_strategy">
            <a:extLst>
              <a:ext uri="{FF2B5EF4-FFF2-40B4-BE49-F238E27FC236}">
                <a16:creationId xmlns:a16="http://schemas.microsoft.com/office/drawing/2014/main" id="{47E6EE2A-CF16-2F0E-4C46-1E0771EAF0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1044565"/>
              </p:ext>
            </p:extLst>
          </p:nvPr>
        </p:nvGraphicFramePr>
        <p:xfrm>
          <a:off x="2100263" y="3859921"/>
          <a:ext cx="7920037" cy="2522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E3FB0037-B5C4-44C8-083F-D2619B89D426}"/>
              </a:ext>
            </a:extLst>
          </p:cNvPr>
          <p:cNvSpPr txBox="1"/>
          <p:nvPr/>
        </p:nvSpPr>
        <p:spPr>
          <a:xfrm>
            <a:off x="310895" y="919070"/>
            <a:ext cx="11473117" cy="3172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10000"/>
              </a:lnSpc>
              <a:defRPr sz="1400" b="1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{{NAME}}</a:t>
            </a:r>
            <a:r>
              <a:rPr lang="ko-KR" altLang="en-US" dirty="0"/>
              <a:t> 님의 리더십 영향력 전략 진단 결과는 다음과 같습니다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F664E7D-D097-A107-B5A2-68D60C9810B4}"/>
              </a:ext>
            </a:extLst>
          </p:cNvPr>
          <p:cNvSpPr/>
          <p:nvPr/>
        </p:nvSpPr>
        <p:spPr>
          <a:xfrm>
            <a:off x="4850320" y="3718726"/>
            <a:ext cx="2491359" cy="2444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리더십 영향력 전략 진단 결과</a:t>
            </a:r>
          </a:p>
        </p:txBody>
      </p:sp>
      <p:pic>
        <p:nvPicPr>
          <p:cNvPr id="5" name="circle6">
            <a:extLst>
              <a:ext uri="{FF2B5EF4-FFF2-40B4-BE49-F238E27FC236}">
                <a16:creationId xmlns:a16="http://schemas.microsoft.com/office/drawing/2014/main" id="{F8E47FE5-3FF9-E2B7-E2BA-9D51B522CD8E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0300" y="6019532"/>
            <a:ext cx="819157" cy="46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4" name="circle5">
            <a:extLst>
              <a:ext uri="{FF2B5EF4-FFF2-40B4-BE49-F238E27FC236}">
                <a16:creationId xmlns:a16="http://schemas.microsoft.com/office/drawing/2014/main" id="{DE183647-22AA-8541-A121-4BE048DAF433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790" y="6019533"/>
            <a:ext cx="819157" cy="46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3" name="circle4">
            <a:extLst>
              <a:ext uri="{FF2B5EF4-FFF2-40B4-BE49-F238E27FC236}">
                <a16:creationId xmlns:a16="http://schemas.microsoft.com/office/drawing/2014/main" id="{77DBAD45-D411-0847-E9A4-B03255C4962F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487" y="6023461"/>
            <a:ext cx="670351" cy="46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6" name="circle3">
            <a:extLst>
              <a:ext uri="{FF2B5EF4-FFF2-40B4-BE49-F238E27FC236}">
                <a16:creationId xmlns:a16="http://schemas.microsoft.com/office/drawing/2014/main" id="{2D291F2A-0334-B8AD-4C34-E9777ACBBFC5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389" y="6023461"/>
            <a:ext cx="670351" cy="46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" name="circle2">
            <a:extLst>
              <a:ext uri="{FF2B5EF4-FFF2-40B4-BE49-F238E27FC236}">
                <a16:creationId xmlns:a16="http://schemas.microsoft.com/office/drawing/2014/main" id="{A5198007-C77A-BF58-C790-A9948191397E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536" y="3213331"/>
            <a:ext cx="1142784" cy="43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1" name="circle1">
            <a:extLst>
              <a:ext uri="{FF2B5EF4-FFF2-40B4-BE49-F238E27FC236}">
                <a16:creationId xmlns:a16="http://schemas.microsoft.com/office/drawing/2014/main" id="{78BD61EB-1D6B-EF6F-3261-F263E6F3C460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3611" y="3216154"/>
            <a:ext cx="844983" cy="43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8185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68CFC-30F8-4C2F-E100-A4B54867F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화살표: 오른쪽 54">
            <a:extLst>
              <a:ext uri="{FF2B5EF4-FFF2-40B4-BE49-F238E27FC236}">
                <a16:creationId xmlns:a16="http://schemas.microsoft.com/office/drawing/2014/main" id="{BF0827A5-12D8-E957-2D2F-5021FF6AAD94}"/>
              </a:ext>
            </a:extLst>
          </p:cNvPr>
          <p:cNvSpPr/>
          <p:nvPr/>
        </p:nvSpPr>
        <p:spPr>
          <a:xfrm>
            <a:off x="2366000" y="3196460"/>
            <a:ext cx="7523435" cy="362515"/>
          </a:xfrm>
          <a:prstGeom prst="rightArrow">
            <a:avLst>
              <a:gd name="adj1" fmla="val 50000"/>
              <a:gd name="adj2" fmla="val 101533"/>
            </a:avLst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6B5880A-6F8F-A1EF-549E-74135645223A}"/>
              </a:ext>
            </a:extLst>
          </p:cNvPr>
          <p:cNvCxnSpPr>
            <a:cxnSpLocks/>
          </p:cNvCxnSpPr>
          <p:nvPr/>
        </p:nvCxnSpPr>
        <p:spPr>
          <a:xfrm>
            <a:off x="407988" y="882172"/>
            <a:ext cx="11376025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B880713-4A85-E2EC-679E-7D6D13CC78ED}"/>
              </a:ext>
            </a:extLst>
          </p:cNvPr>
          <p:cNvSpPr txBox="1"/>
          <p:nvPr/>
        </p:nvSpPr>
        <p:spPr>
          <a:xfrm>
            <a:off x="310895" y="504183"/>
            <a:ext cx="8160005" cy="381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CIAM _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리더십 영향력 진단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 _ {{NAME}}</a:t>
            </a:r>
            <a:endParaRPr lang="ko-KR" altLang="en-US" dirty="0"/>
          </a:p>
        </p:txBody>
      </p:sp>
      <p:graphicFrame>
        <p:nvGraphicFramePr>
          <p:cNvPr id="16" name="chart_phase">
            <a:extLst>
              <a:ext uri="{FF2B5EF4-FFF2-40B4-BE49-F238E27FC236}">
                <a16:creationId xmlns:a16="http://schemas.microsoft.com/office/drawing/2014/main" id="{C585DE21-0C58-BD8B-5BC4-053F8174C682}"/>
              </a:ext>
            </a:extLst>
          </p:cNvPr>
          <p:cNvGraphicFramePr/>
          <p:nvPr/>
        </p:nvGraphicFramePr>
        <p:xfrm>
          <a:off x="2100263" y="1526931"/>
          <a:ext cx="7920037" cy="2021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4351906-E4FB-A366-A6B9-A2B6602A601A}"/>
              </a:ext>
            </a:extLst>
          </p:cNvPr>
          <p:cNvSpPr/>
          <p:nvPr/>
        </p:nvSpPr>
        <p:spPr>
          <a:xfrm>
            <a:off x="4850320" y="1324232"/>
            <a:ext cx="2491359" cy="2444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리더십 영향력 단계 진단 결과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A5511A9-4113-91F0-E123-8D15976CE54E}"/>
              </a:ext>
            </a:extLst>
          </p:cNvPr>
          <p:cNvSpPr/>
          <p:nvPr/>
        </p:nvSpPr>
        <p:spPr>
          <a:xfrm>
            <a:off x="2376161" y="4409995"/>
            <a:ext cx="3000052" cy="163833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rgbClr val="D9E1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79DD65C-D9F1-84F9-9A1F-49F9F69090C1}"/>
              </a:ext>
            </a:extLst>
          </p:cNvPr>
          <p:cNvSpPr/>
          <p:nvPr/>
        </p:nvSpPr>
        <p:spPr>
          <a:xfrm>
            <a:off x="5395868" y="4409994"/>
            <a:ext cx="4483627" cy="1638333"/>
          </a:xfrm>
          <a:prstGeom prst="rect">
            <a:avLst/>
          </a:prstGeom>
          <a:solidFill>
            <a:srgbClr val="FFF2CC">
              <a:alpha val="50000"/>
            </a:srgbClr>
          </a:solidFill>
          <a:ln>
            <a:solidFill>
              <a:srgbClr val="D9E1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29DEDA9-78BE-C3D1-0C51-787A56A12B33}"/>
              </a:ext>
            </a:extLst>
          </p:cNvPr>
          <p:cNvCxnSpPr>
            <a:cxnSpLocks/>
          </p:cNvCxnSpPr>
          <p:nvPr/>
        </p:nvCxnSpPr>
        <p:spPr>
          <a:xfrm>
            <a:off x="5385930" y="4031135"/>
            <a:ext cx="0" cy="200270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5108EBB-F91D-A348-D1CA-EC6211388A4C}"/>
              </a:ext>
            </a:extLst>
          </p:cNvPr>
          <p:cNvSpPr/>
          <p:nvPr/>
        </p:nvSpPr>
        <p:spPr>
          <a:xfrm>
            <a:off x="3618118" y="3984599"/>
            <a:ext cx="495816" cy="18399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Pull</a:t>
            </a:r>
            <a:endParaRPr lang="ko-KR" altLang="en-US" sz="1200" b="1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80B10BB-2555-1E78-BBC8-566724AFC756}"/>
              </a:ext>
            </a:extLst>
          </p:cNvPr>
          <p:cNvSpPr/>
          <p:nvPr/>
        </p:nvSpPr>
        <p:spPr>
          <a:xfrm>
            <a:off x="7350781" y="3951489"/>
            <a:ext cx="564088" cy="2497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Push</a:t>
            </a:r>
            <a:endParaRPr lang="ko-KR" altLang="en-US" sz="1200" b="1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E33DB5B-585A-261C-C45A-AA463AB75329}"/>
              </a:ext>
            </a:extLst>
          </p:cNvPr>
          <p:cNvCxnSpPr/>
          <p:nvPr/>
        </p:nvCxnSpPr>
        <p:spPr>
          <a:xfrm>
            <a:off x="2366000" y="4203362"/>
            <a:ext cx="300005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80EC1E9-700F-F20D-3C1F-5CB7DF8D161C}"/>
              </a:ext>
            </a:extLst>
          </p:cNvPr>
          <p:cNvCxnSpPr>
            <a:cxnSpLocks/>
          </p:cNvCxnSpPr>
          <p:nvPr/>
        </p:nvCxnSpPr>
        <p:spPr>
          <a:xfrm>
            <a:off x="5376213" y="4198410"/>
            <a:ext cx="451322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hart_strategy">
            <a:extLst>
              <a:ext uri="{FF2B5EF4-FFF2-40B4-BE49-F238E27FC236}">
                <a16:creationId xmlns:a16="http://schemas.microsoft.com/office/drawing/2014/main" id="{3730660A-2C31-D26C-FBD9-A6D1CEA9BEBA}"/>
              </a:ext>
            </a:extLst>
          </p:cNvPr>
          <p:cNvGraphicFramePr/>
          <p:nvPr/>
        </p:nvGraphicFramePr>
        <p:xfrm>
          <a:off x="2100263" y="3859921"/>
          <a:ext cx="7920037" cy="2522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666AD86A-68EC-07FD-6B61-8873F06966C0}"/>
              </a:ext>
            </a:extLst>
          </p:cNvPr>
          <p:cNvSpPr txBox="1"/>
          <p:nvPr/>
        </p:nvSpPr>
        <p:spPr>
          <a:xfrm>
            <a:off x="310895" y="919070"/>
            <a:ext cx="11473117" cy="3172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10000"/>
              </a:lnSpc>
              <a:defRPr sz="1400" b="1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{{NAME}}</a:t>
            </a:r>
            <a:r>
              <a:rPr lang="ko-KR" altLang="en-US" dirty="0"/>
              <a:t> 님의 리더십 영향력 전략 진단 결과는 다음과 같습니다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885D7C2-E0E7-26D9-836D-3D1849AEB4A1}"/>
              </a:ext>
            </a:extLst>
          </p:cNvPr>
          <p:cNvSpPr/>
          <p:nvPr/>
        </p:nvSpPr>
        <p:spPr>
          <a:xfrm>
            <a:off x="4850320" y="3718726"/>
            <a:ext cx="2491359" cy="2444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리더십 영향력 전략 진단 결과</a:t>
            </a:r>
          </a:p>
        </p:txBody>
      </p:sp>
      <p:pic>
        <p:nvPicPr>
          <p:cNvPr id="5" name="circle6">
            <a:extLst>
              <a:ext uri="{FF2B5EF4-FFF2-40B4-BE49-F238E27FC236}">
                <a16:creationId xmlns:a16="http://schemas.microsoft.com/office/drawing/2014/main" id="{3F41A5DB-707B-B143-1EC5-6D85B6BCE393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0300" y="6019532"/>
            <a:ext cx="819157" cy="46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4" name="circle5">
            <a:extLst>
              <a:ext uri="{FF2B5EF4-FFF2-40B4-BE49-F238E27FC236}">
                <a16:creationId xmlns:a16="http://schemas.microsoft.com/office/drawing/2014/main" id="{958F7167-F693-41E2-D11C-318E993FA213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790" y="6019533"/>
            <a:ext cx="819157" cy="46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3" name="circle4">
            <a:extLst>
              <a:ext uri="{FF2B5EF4-FFF2-40B4-BE49-F238E27FC236}">
                <a16:creationId xmlns:a16="http://schemas.microsoft.com/office/drawing/2014/main" id="{15A27740-F2DE-0D0E-9CAB-E168C21F170B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487" y="6023461"/>
            <a:ext cx="670351" cy="46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6" name="circle3">
            <a:extLst>
              <a:ext uri="{FF2B5EF4-FFF2-40B4-BE49-F238E27FC236}">
                <a16:creationId xmlns:a16="http://schemas.microsoft.com/office/drawing/2014/main" id="{FC882569-B63E-BFA8-FF48-28047D8CA844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389" y="6023461"/>
            <a:ext cx="670351" cy="46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" name="circle2">
            <a:extLst>
              <a:ext uri="{FF2B5EF4-FFF2-40B4-BE49-F238E27FC236}">
                <a16:creationId xmlns:a16="http://schemas.microsoft.com/office/drawing/2014/main" id="{C6D85127-819B-98A7-FC99-E977DCE18039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536" y="3213331"/>
            <a:ext cx="1142784" cy="43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1" name="circle1">
            <a:extLst>
              <a:ext uri="{FF2B5EF4-FFF2-40B4-BE49-F238E27FC236}">
                <a16:creationId xmlns:a16="http://schemas.microsoft.com/office/drawing/2014/main" id="{9354D81A-1828-C2FF-A45D-7DAFC50E5B9A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3611" y="3216154"/>
            <a:ext cx="844983" cy="43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567765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CLiCK 표준제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04040"/>
      </a:accent1>
      <a:accent2>
        <a:srgbClr val="CF5959"/>
      </a:accent2>
      <a:accent3>
        <a:srgbClr val="D48A4C"/>
      </a:accent3>
      <a:accent4>
        <a:srgbClr val="5E986D"/>
      </a:accent4>
      <a:accent5>
        <a:srgbClr val="7AA7CC"/>
      </a:accent5>
      <a:accent6>
        <a:srgbClr val="BC7EBC"/>
      </a:accent6>
      <a:hlink>
        <a:srgbClr val="0563C1"/>
      </a:hlink>
      <a:folHlink>
        <a:srgbClr val="954F72"/>
      </a:folHlink>
    </a:clrScheme>
    <a:fontScheme name="기본">
      <a:majorFont>
        <a:latin typeface="KoPub돋움체 Bold"/>
        <a:ea typeface="KoPub돋움체 Bold"/>
        <a:cs typeface=""/>
      </a:majorFont>
      <a:minorFont>
        <a:latin typeface="KoPub돋움체 Medium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4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8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2C65D8E-933D-4F2F-8063-5E9997022CCD}">
  <we:reference id="wa104380907" version="1.0.0.0" store="ko-KR" storeType="OMEX"/>
  <we:alternateReferences>
    <we:reference id="wa104380907" version="1.0.0.0" store="WA10438090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5660</TotalTime>
  <Words>66</Words>
  <Application>Microsoft Office PowerPoint</Application>
  <PresentationFormat>와이드스크린</PresentationFormat>
  <Paragraphs>12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KoPub돋움체 Medium</vt:lpstr>
      <vt:lpstr>맑은 고딕</vt:lpstr>
      <vt:lpstr>Arial</vt:lpstr>
      <vt:lpstr>1_Office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민정</dc:creator>
  <cp:lastModifiedBy>클릭 3</cp:lastModifiedBy>
  <cp:revision>541</cp:revision>
  <cp:lastPrinted>2020-10-05T07:56:35Z</cp:lastPrinted>
  <dcterms:created xsi:type="dcterms:W3CDTF">2020-04-16T02:29:07Z</dcterms:created>
  <dcterms:modified xsi:type="dcterms:W3CDTF">2026-03-20T01:36:22Z</dcterms:modified>
</cp:coreProperties>
</file>